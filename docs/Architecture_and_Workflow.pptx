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2382157-a127-f7bf-fb00-3d3462e47c2c}">
          <p14:sldIdLst>
            <p14:sldId id="256"/>
            <p14:sldId id="257"/>
          </p14:sldIdLst>
        </p14:section>
        <p14:section name="Architecture" id="{9c7600e8-acdd-559d-0126-bd4da957a29c}">
          <p14:sldIdLst>
            <p14:sldId id="258"/>
            <p14:sldId id="259"/>
          </p14:sldIdLst>
        </p14:section>
        <p14:section name="Workflow" id="{02a9a964-b3de-3ea8-0c90-ac31a38b17fc}">
          <p14:sldIdLst>
            <p14:sldId id="260"/>
            <p14:sldId id="261"/>
          </p14:sldIdLst>
        </p14:section>
        <p14:section name="Results" id="{a1de8e10-16f1-b4a1-5177-7be9f1c0e2ff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One-line pitch: upload enterprise files, ask questions, get cited answers or an honest 'not found'.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knowledge is spread across file types and generic chatbots answer from general knowledge. Solution: answers only from the user's files, with citations, or an honest decline.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runs once per uploaded file. Bottom row runs per question as a LangGraph StateGraph; each node can end the flow early (blocked, chitchat, declined, error).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are plain Python classes; graph.py connects them with LangGraph. Every failure path degrades gracefully instead of crashing.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Edureka GenAI Capstone · Document Q&amp;A with RAG + AI Agents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Ask your documents. Get answers you can verify.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RAG + 4 AI agents (LangGraph) + Claude + ChromaDB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Phaneendranath Jenne · Edureka Generative AI &amp; ML Capstone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scattered files to cited answers</a:t>
            </a:r>
            <a:endParaRPr lang="en-US" sz="3400" dirty="0"/>
          </a:p>
        </p:txBody>
      </p:sp>
      <p:sp>
        <p:nvSpPr>
          <p:cNvPr id="3" name="fmtPDF"/>
          <p:cNvSpPr/>
          <p:nvPr/>
        </p:nvSpPr>
        <p:spPr>
          <a:xfrm>
            <a:off x="640080" y="14173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PDF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417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policies, handbooks</a:t>
            </a:r>
            <a:endParaRPr lang="en-US" sz="1400" dirty="0"/>
          </a:p>
        </p:txBody>
      </p:sp>
      <p:sp>
        <p:nvSpPr>
          <p:cNvPr id="6" name="fmtTXT"/>
          <p:cNvSpPr/>
          <p:nvPr/>
        </p:nvSpPr>
        <p:spPr>
          <a:xfrm>
            <a:off x="640080" y="25603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TXT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560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procedures</a:t>
            </a:r>
            <a:endParaRPr lang="en-US" sz="1400" dirty="0"/>
          </a:p>
        </p:txBody>
      </p:sp>
      <p:sp>
        <p:nvSpPr>
          <p:cNvPr id="9" name="fmtCSV"/>
          <p:cNvSpPr/>
          <p:nvPr/>
        </p:nvSpPr>
        <p:spPr>
          <a:xfrm>
            <a:off x="640080" y="37033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7033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CSV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703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exports</a:t>
            </a:r>
            <a:endParaRPr lang="en-US" sz="1400" dirty="0"/>
          </a:p>
        </p:txBody>
      </p:sp>
      <p:sp>
        <p:nvSpPr>
          <p:cNvPr id="12" name="fmtXLSX"/>
          <p:cNvSpPr/>
          <p:nvPr/>
        </p:nvSpPr>
        <p:spPr>
          <a:xfrm>
            <a:off x="640080" y="48463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XLSX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846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trackers, sheets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3840480" y="3291840"/>
            <a:ext cx="91440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engine"/>
          <p:cNvSpPr/>
          <p:nvPr/>
        </p:nvSpPr>
        <p:spPr>
          <a:xfrm>
            <a:off x="5029200" y="1417320"/>
            <a:ext cx="2743200" cy="43434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57800" y="1645920"/>
            <a:ext cx="22860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Document Q&amp;A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upload → chunk → embed → search → answer → check</a:t>
            </a:r>
            <a:endParaRPr lang="en-US" sz="2200" dirty="0"/>
          </a:p>
        </p:txBody>
      </p:sp>
      <p:sp>
        <p:nvSpPr>
          <p:cNvPr id="18" name="arrow"/>
          <p:cNvSpPr/>
          <p:nvPr/>
        </p:nvSpPr>
        <p:spPr>
          <a:xfrm>
            <a:off x="8046720" y="3291840"/>
            <a:ext cx="91440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outAnswer"/>
          <p:cNvSpPr/>
          <p:nvPr/>
        </p:nvSpPr>
        <p:spPr>
          <a:xfrm>
            <a:off x="9189720" y="1417320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372600" y="1527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✅  Answer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1984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cites file + page for every sentence</a:t>
            </a:r>
            <a:endParaRPr lang="en-US" sz="1300" dirty="0"/>
          </a:p>
        </p:txBody>
      </p:sp>
      <p:sp>
        <p:nvSpPr>
          <p:cNvPr id="22" name="outDecline"/>
          <p:cNvSpPr/>
          <p:nvPr/>
        </p:nvSpPr>
        <p:spPr>
          <a:xfrm>
            <a:off x="9189720" y="2898648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37260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🤷  Decline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34655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when the answer is not in the files</a:t>
            </a:r>
            <a:endParaRPr lang="en-US" sz="1300" dirty="0"/>
          </a:p>
        </p:txBody>
      </p:sp>
      <p:sp>
        <p:nvSpPr>
          <p:cNvPr id="25" name="outBlock"/>
          <p:cNvSpPr/>
          <p:nvPr/>
        </p:nvSpPr>
        <p:spPr>
          <a:xfrm>
            <a:off x="9189720" y="4379976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372600" y="4489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🛡️  Block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49469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unsafe or manipulative questions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INGESTION</a:t>
            </a:r>
            <a:endParaRPr lang="en-US" sz="1300" dirty="0"/>
          </a:p>
        </p:txBody>
      </p:sp>
      <p:sp>
        <p:nvSpPr>
          <p:cNvPr id="4" name="ing0"/>
          <p:cNvSpPr/>
          <p:nvPr/>
        </p:nvSpPr>
        <p:spPr>
          <a:xfrm>
            <a:off x="640080" y="160020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Upload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Streamlit UI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any file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2514600" y="2121408"/>
            <a:ext cx="36576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ing1"/>
          <p:cNvSpPr/>
          <p:nvPr/>
        </p:nvSpPr>
        <p:spPr>
          <a:xfrm>
            <a:off x="2926080" y="160020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26080" y="160020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Ingestion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PDF · TXT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CSV · XLSX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4800600" y="2121408"/>
            <a:ext cx="36576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ing2"/>
          <p:cNvSpPr/>
          <p:nvPr/>
        </p:nvSpPr>
        <p:spPr>
          <a:xfrm>
            <a:off x="5212080" y="160020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12080" y="160020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Chunking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800 chars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150 overlap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7086600" y="2121408"/>
            <a:ext cx="36576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ing3"/>
          <p:cNvSpPr/>
          <p:nvPr/>
        </p:nvSpPr>
        <p:spPr>
          <a:xfrm>
            <a:off x="7498080" y="160020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0" y="160020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Embeddings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MiniLM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384-dim</a:t>
            </a:r>
            <a:endParaRPr lang="en-US" sz="1600" dirty="0"/>
          </a:p>
        </p:txBody>
      </p:sp>
      <p:sp>
        <p:nvSpPr>
          <p:cNvPr id="15" name="arrow"/>
          <p:cNvSpPr/>
          <p:nvPr/>
        </p:nvSpPr>
        <p:spPr>
          <a:xfrm>
            <a:off x="9372600" y="2121408"/>
            <a:ext cx="36576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ing4"/>
          <p:cNvSpPr/>
          <p:nvPr/>
        </p:nvSpPr>
        <p:spPr>
          <a:xfrm>
            <a:off x="9784080" y="160020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84080" y="160020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ChromaDB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vector store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cosine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QUESTION (LangGraph workflow)</a:t>
            </a:r>
            <a:endParaRPr lang="en-US" sz="1300" dirty="0"/>
          </a:p>
        </p:txBody>
      </p:sp>
      <p:sp>
        <p:nvSpPr>
          <p:cNvPr id="19" name="agent0"/>
          <p:cNvSpPr/>
          <p:nvPr/>
        </p:nvSpPr>
        <p:spPr>
          <a:xfrm>
            <a:off x="640080" y="370332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70332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Guardrail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length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injection</a:t>
            </a:r>
            <a:endParaRPr lang="en-US" sz="1600" dirty="0"/>
          </a:p>
        </p:txBody>
      </p:sp>
      <p:sp>
        <p:nvSpPr>
          <p:cNvPr id="21" name="arrow"/>
          <p:cNvSpPr/>
          <p:nvPr/>
        </p:nvSpPr>
        <p:spPr>
          <a:xfrm>
            <a:off x="2514600" y="4224528"/>
            <a:ext cx="36576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agent1"/>
          <p:cNvSpPr/>
          <p:nvPr/>
        </p:nvSpPr>
        <p:spPr>
          <a:xfrm>
            <a:off x="2926080" y="370332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926080" y="370332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Planner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intent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1-3 searches</a:t>
            </a:r>
            <a:endParaRPr lang="en-US" sz="1600" dirty="0"/>
          </a:p>
        </p:txBody>
      </p:sp>
      <p:sp>
        <p:nvSpPr>
          <p:cNvPr id="24" name="arrow"/>
          <p:cNvSpPr/>
          <p:nvPr/>
        </p:nvSpPr>
        <p:spPr>
          <a:xfrm>
            <a:off x="4800600" y="4224528"/>
            <a:ext cx="36576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agent2"/>
          <p:cNvSpPr/>
          <p:nvPr/>
        </p:nvSpPr>
        <p:spPr>
          <a:xfrm>
            <a:off x="5212080" y="370332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212080" y="370332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Retriever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similarity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search + filter</a:t>
            </a:r>
            <a:endParaRPr lang="en-US" sz="1600" dirty="0"/>
          </a:p>
        </p:txBody>
      </p:sp>
      <p:sp>
        <p:nvSpPr>
          <p:cNvPr id="27" name="arrow"/>
          <p:cNvSpPr/>
          <p:nvPr/>
        </p:nvSpPr>
        <p:spPr>
          <a:xfrm>
            <a:off x="7086600" y="4224528"/>
            <a:ext cx="36576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agent3"/>
          <p:cNvSpPr/>
          <p:nvPr/>
        </p:nvSpPr>
        <p:spPr>
          <a:xfrm>
            <a:off x="7498080" y="370332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98080" y="370332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Reasoner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Claude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cites [S#]</a:t>
            </a:r>
            <a:endParaRPr lang="en-US" sz="1600" dirty="0"/>
          </a:p>
        </p:txBody>
      </p:sp>
      <p:sp>
        <p:nvSpPr>
          <p:cNvPr id="30" name="arrow"/>
          <p:cNvSpPr/>
          <p:nvPr/>
        </p:nvSpPr>
        <p:spPr>
          <a:xfrm>
            <a:off x="9372600" y="4224528"/>
            <a:ext cx="365760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agent4"/>
          <p:cNvSpPr/>
          <p:nvPr/>
        </p:nvSpPr>
        <p:spPr>
          <a:xfrm>
            <a:off x="9784080" y="3703320"/>
            <a:ext cx="1828800" cy="1325880"/>
          </a:xfrm>
          <a:prstGeom prst="roundRect">
            <a:avLst>
              <a:gd name="adj" fmla="val 8276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784080" y="3703320"/>
            <a:ext cx="1828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Validator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citations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numbers</a:t>
            </a:r>
            <a:endParaRPr lang="en-US" sz="1600" dirty="0"/>
          </a:p>
        </p:txBody>
      </p:sp>
      <p:sp>
        <p:nvSpPr>
          <p:cNvPr id="33" name="searchLink"/>
          <p:cNvSpPr/>
          <p:nvPr/>
        </p:nvSpPr>
        <p:spPr>
          <a:xfrm flipH="1">
            <a:off x="5669280" y="2926080"/>
            <a:ext cx="5029200" cy="7772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4008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similarity search</a:t>
            </a:r>
            <a:endParaRPr lang="en-US" sz="1200" dirty="0"/>
          </a:p>
        </p:txBody>
      </p:sp>
      <p:sp>
        <p:nvSpPr>
          <p:cNvPr id="35" name="retry"/>
          <p:cNvSpPr/>
          <p:nvPr/>
        </p:nvSpPr>
        <p:spPr>
          <a:xfrm>
            <a:off x="8869680" y="5074920"/>
            <a:ext cx="22860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headEnd type="triangle"/>
          </a:ln>
        </p:spPr>
      </p:sp>
      <p:sp>
        <p:nvSpPr>
          <p:cNvPr id="36" name="Text 34"/>
          <p:cNvSpPr txBox="1"/>
          <p:nvPr/>
        </p:nvSpPr>
        <p:spPr>
          <a:xfrm>
            <a:off x="8595360" y="5138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fail → rewrite once → else decline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Answer + sources + agent trace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Four agents, one job each</a:t>
            </a:r>
            <a:endParaRPr lang="en-US" sz="3400" dirty="0"/>
          </a:p>
        </p:txBody>
      </p:sp>
      <p:sp>
        <p:nvSpPr>
          <p:cNvPr id="3" name="role1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1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Planner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47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Understands the question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500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Classifies intent, splits compound questions into up to 3 searches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If it fails: Claude fails → searches with the raw question</a:t>
            </a:r>
            <a:endParaRPr lang="en-US" sz="1200" dirty="0"/>
          </a:p>
        </p:txBody>
      </p:sp>
      <p:sp>
        <p:nvSpPr>
          <p:cNvPr id="10" name="role2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num2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554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Retriever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9476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Finds the evidence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3500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Similarity search in ChromaDB, keeps relevance ≥ 0.2, strips hidden instructions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If it fails: Nothing relevant → polite decline</a:t>
            </a:r>
            <a:endParaRPr lang="en-US" sz="1200" dirty="0"/>
          </a:p>
        </p:txBody>
      </p:sp>
      <p:sp>
        <p:nvSpPr>
          <p:cNvPr id="17" name="role3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num3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069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Reasoner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462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Writes the answer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646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 gets numbered sources; must cite every sentence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If it fails: Claude fails → offline extractive answer</a:t>
            </a:r>
            <a:endParaRPr lang="en-US" sz="1200" dirty="0"/>
          </a:p>
        </p:txBody>
      </p:sp>
      <p:sp>
        <p:nvSpPr>
          <p:cNvPr id="24" name="role4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num4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Validator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62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Checks the answer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8646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sentence cited? Citations real? Numbers in the source? Masks PII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If it fails: Fails → one rewrite → else decline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One question, step by step</a:t>
            </a:r>
            <a:endParaRPr lang="en-US" sz="3400" dirty="0"/>
          </a:p>
        </p:txBody>
      </p:sp>
      <p:sp>
        <p:nvSpPr>
          <p:cNvPr id="3" name="question"/>
          <p:cNvSpPr/>
          <p:nvPr/>
        </p:nvSpPr>
        <p:spPr>
          <a:xfrm>
            <a:off x="548640" y="128016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“What is the home office stipend and how many remote days are allowed?”</a:t>
            </a:r>
            <a:endParaRPr lang="en-US" sz="1800" dirty="0"/>
          </a:p>
        </p:txBody>
      </p:sp>
      <p:sp>
        <p:nvSpPr>
          <p:cNvPr id="5" name="step0"/>
          <p:cNvSpPr/>
          <p:nvPr/>
        </p:nvSpPr>
        <p:spPr>
          <a:xfrm>
            <a:off x="548640" y="23317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Guardrail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passed · 0 ms</a:t>
            </a:r>
            <a:endParaRPr lang="en-US" sz="1600" dirty="0"/>
          </a:p>
        </p:txBody>
      </p:sp>
      <p:sp>
        <p:nvSpPr>
          <p:cNvPr id="7" name="step1"/>
          <p:cNvSpPr/>
          <p:nvPr/>
        </p:nvSpPr>
        <p:spPr>
          <a:xfrm>
            <a:off x="2788920" y="23317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23317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Planner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lookup · 2 searches</a:t>
            </a:r>
            <a:endParaRPr lang="en-US" sz="1600" dirty="0"/>
          </a:p>
        </p:txBody>
      </p:sp>
      <p:sp>
        <p:nvSpPr>
          <p:cNvPr id="9" name="step2"/>
          <p:cNvSpPr/>
          <p:nvPr/>
        </p:nvSpPr>
        <p:spPr>
          <a:xfrm>
            <a:off x="5029200" y="23317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0" y="23317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Retriever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handbook p.2 · 0.26</a:t>
            </a:r>
            <a:endParaRPr lang="en-US" sz="1600" dirty="0"/>
          </a:p>
        </p:txBody>
      </p:sp>
      <p:sp>
        <p:nvSpPr>
          <p:cNvPr id="11" name="step3"/>
          <p:cNvSpPr/>
          <p:nvPr/>
        </p:nvSpPr>
        <p:spPr>
          <a:xfrm>
            <a:off x="7269480" y="23317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269480" y="23317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Reasoner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draft with [S1]</a:t>
            </a:r>
            <a:endParaRPr lang="en-US" sz="1600" dirty="0"/>
          </a:p>
        </p:txBody>
      </p:sp>
      <p:sp>
        <p:nvSpPr>
          <p:cNvPr id="13" name="step4"/>
          <p:cNvSpPr/>
          <p:nvPr/>
        </p:nvSpPr>
        <p:spPr>
          <a:xfrm>
            <a:off x="9509760" y="233172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509760" y="233172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Validator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 ✓</a:t>
            </a:r>
            <a:endParaRPr lang="en-US" sz="1600" dirty="0"/>
          </a:p>
        </p:txBody>
      </p:sp>
      <p:sp>
        <p:nvSpPr>
          <p:cNvPr id="15" name="answer"/>
          <p:cNvSpPr/>
          <p:nvPr/>
        </p:nvSpPr>
        <p:spPr>
          <a:xfrm>
            <a:off x="548640" y="393192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931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one-time home office stipend of 500 dollars is paid in the first month [S1]. Employees may work remotely up to 3 days per week with manager approval [S1].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[S1] employee_handbook.pdf · page 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The same trace is visible in the app under “How the agents answered”.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Safety and error handling</a:t>
            </a:r>
            <a:endParaRPr lang="en-US" sz="3400" dirty="0"/>
          </a:p>
        </p:txBody>
      </p:sp>
      <p:sp>
        <p:nvSpPr>
          <p:cNvPr id="3" name="safe0"/>
          <p:cNvSpPr/>
          <p:nvPr/>
        </p:nvSpPr>
        <p:spPr>
          <a:xfrm>
            <a:off x="548640" y="1325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🧾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made-up facts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24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sentence must cite a retrieved source</a:t>
            </a:r>
            <a:endParaRPr lang="en-US" sz="1400" dirty="0"/>
          </a:p>
        </p:txBody>
      </p:sp>
      <p:sp>
        <p:nvSpPr>
          <p:cNvPr id="7" name="safe1"/>
          <p:cNvSpPr/>
          <p:nvPr/>
        </p:nvSpPr>
        <p:spPr>
          <a:xfrm>
            <a:off x="4297680" y="1325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made-up numbers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624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number must exist in its source</a:t>
            </a:r>
            <a:endParaRPr lang="en-US" sz="1400" dirty="0"/>
          </a:p>
        </p:txBody>
      </p:sp>
      <p:sp>
        <p:nvSpPr>
          <p:cNvPr id="11" name="safe2"/>
          <p:cNvSpPr/>
          <p:nvPr/>
        </p:nvSpPr>
        <p:spPr>
          <a:xfrm>
            <a:off x="8046720" y="13258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Prompt injection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624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blocked in questions, stripped from documents</a:t>
            </a:r>
            <a:endParaRPr lang="en-US" sz="1400" dirty="0"/>
          </a:p>
        </p:txBody>
      </p:sp>
      <p:sp>
        <p:nvSpPr>
          <p:cNvPr id="15" name="safe3"/>
          <p:cNvSpPr/>
          <p:nvPr/>
        </p:nvSpPr>
        <p:spPr>
          <a:xfrm>
            <a:off x="548640" y="3703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886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72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Sensitive data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0017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SSN, card, API-key patterns masked</a:t>
            </a:r>
            <a:endParaRPr lang="en-US" sz="1400" dirty="0"/>
          </a:p>
        </p:txBody>
      </p:sp>
      <p:sp>
        <p:nvSpPr>
          <p:cNvPr id="19" name="safe4"/>
          <p:cNvSpPr/>
          <p:nvPr/>
        </p:nvSpPr>
        <p:spPr>
          <a:xfrm>
            <a:off x="4297680" y="3703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26280" y="3886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📎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572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Bad files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50017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jpg, zip, renamed, empty, corrupt, scanned, password</a:t>
            </a:r>
            <a:endParaRPr lang="en-US" sz="1400" dirty="0"/>
          </a:p>
        </p:txBody>
      </p:sp>
      <p:sp>
        <p:nvSpPr>
          <p:cNvPr id="23" name="safe5"/>
          <p:cNvSpPr/>
          <p:nvPr/>
        </p:nvSpPr>
        <p:spPr>
          <a:xfrm>
            <a:off x="8046720" y="3703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75320" y="3886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🔌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572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LLM down / no key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50017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offline fallback + clear warning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Tested end to end</a:t>
            </a:r>
            <a:endParaRPr lang="en-US" sz="3400" dirty="0"/>
          </a:p>
        </p:txBody>
      </p:sp>
      <p:sp>
        <p:nvSpPr>
          <p:cNvPr id="3" name="stat0"/>
          <p:cNvSpPr/>
          <p:nvPr/>
        </p:nvSpPr>
        <p:spPr>
          <a:xfrm>
            <a:off x="548640" y="14630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64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automated tests passed</a:t>
            </a:r>
            <a:endParaRPr lang="en-US" sz="1400" dirty="0"/>
          </a:p>
        </p:txBody>
      </p:sp>
      <p:sp>
        <p:nvSpPr>
          <p:cNvPr id="6" name="stat1"/>
          <p:cNvSpPr/>
          <p:nvPr/>
        </p:nvSpPr>
        <p:spPr>
          <a:xfrm>
            <a:off x="3364992" y="14630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64992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14/14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golden questions correct</a:t>
            </a:r>
            <a:endParaRPr lang="en-US" sz="1400" dirty="0"/>
          </a:p>
        </p:txBody>
      </p:sp>
      <p:sp>
        <p:nvSpPr>
          <p:cNvPr id="9" name="stat2"/>
          <p:cNvSpPr/>
          <p:nvPr/>
        </p:nvSpPr>
        <p:spPr>
          <a:xfrm>
            <a:off x="6181344" y="14630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81344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9/9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bad files rejected with a clear message</a:t>
            </a:r>
            <a:endParaRPr lang="en-US" sz="1400" dirty="0"/>
          </a:p>
        </p:txBody>
      </p:sp>
      <p:sp>
        <p:nvSpPr>
          <p:cNvPr id="12" name="stat3"/>
          <p:cNvSpPr/>
          <p:nvPr/>
        </p:nvSpPr>
        <p:spPr>
          <a:xfrm>
            <a:off x="8997696" y="14630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997696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10/10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7889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carry citations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Run it yourself: 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scripts/validate.sh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 →  tests, evals, CLI, API and all edge-case files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Live on Streamlit Cloud · works on phone and laptop · same code runs offline for CI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 and lessons learned</a:t>
            </a:r>
            <a:endParaRPr lang="en-US" sz="3400" dirty="0"/>
          </a:p>
        </p:txBody>
      </p:sp>
      <p:sp>
        <p:nvSpPr>
          <p:cNvPr id="3" name="limits"/>
          <p:cNvSpPr/>
          <p:nvPr/>
        </p:nvSpPr>
        <p:spPr>
          <a:xfrm>
            <a:off x="548640" y="13258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Scanned PDFs need OCR (not included)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Table maths (totals, averages) not computed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Pattern-based guardrails can miss new wording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login: one shared document space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Cloud uploads reset when the app sleeps</a:t>
            </a:r>
            <a:endParaRPr lang="en-US" sz="1500" dirty="0"/>
          </a:p>
        </p:txBody>
      </p:sp>
      <p:sp>
        <p:nvSpPr>
          <p:cNvPr id="6" name="challenges"/>
          <p:cNvSpPr/>
          <p:nvPr/>
        </p:nvSpPr>
        <p:spPr>
          <a:xfrm>
            <a:off x="6172200" y="132588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Challenges solved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1168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Unscoped API key → workspace error; added a workspace-id setting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Forced tool calls unsupported → planner uses auto + safe fallback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PDF line breaks merged headings into text → heading-aware joining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 download blocked → offline embedding fallback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Mac Python 3.9 too old → Python 3.11 setup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cQA Teal">
  <a:themeElements>
    <a:clrScheme name="DocQA Teal">
      <a:dk1>
        <a:srgbClr val="1B2A33"/>
      </a:dk1>
      <a:lt1>
        <a:srgbClr val="FFFFFF"/>
      </a:lt1>
      <a:dk2>
        <a:srgbClr val="0B3C49"/>
      </a:dk2>
      <a:lt2>
        <a:srgbClr val="EEF5F6"/>
      </a:lt2>
      <a:accent1>
        <a:srgbClr val="028090"/>
      </a:accent1>
      <a:accent2>
        <a:srgbClr val="00A896"/>
      </a:accent2>
      <a:accent3>
        <a:srgbClr val="F4A259"/>
      </a:accent3>
      <a:accent4>
        <a:srgbClr val="D1495B"/>
      </a:accent4>
      <a:accent5>
        <a:srgbClr val="5B8E7D"/>
      </a:accent5>
      <a:accent6>
        <a:srgbClr val="8A9BA8"/>
      </a:accent6>
      <a:hlink>
        <a:srgbClr val="028090"/>
      </a:hlink>
      <a:folHlink>
        <a:srgbClr val="5B8E7D"/>
      </a:folHlink>
    </a:clrScheme>
    <a:fontScheme name="DocQA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Document Q&amp;A - Architecture and Workflow</dc:title>
  <dc:subject>PptxGenJS Presentation</dc:subject>
  <dc:creator>Phaneendranath Jenne</dc:creator>
  <cp:lastModifiedBy>Phaneendranath Jenne</cp:lastModifiedBy>
  <cp:revision>1</cp:revision>
  <dcterms:created xsi:type="dcterms:W3CDTF">2026-10-11T00:34:27Z</dcterms:created>
  <dcterms:modified xsi:type="dcterms:W3CDTF">2026-10-11T00:34:27Z</dcterms:modified>
</cp:coreProperties>
</file>